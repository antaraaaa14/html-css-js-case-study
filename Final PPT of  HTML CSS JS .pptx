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54;p13"/>
          <p:cNvSpPr txBox="1"/>
          <p:nvPr>
            <p:ph type="subTitle" sz="half" idx="1"/>
          </p:nvPr>
        </p:nvSpPr>
        <p:spPr>
          <a:xfrm>
            <a:off x="484391" y="2583722"/>
            <a:ext cx="8520601" cy="1200151"/>
          </a:xfrm>
          <a:prstGeom prst="rect">
            <a:avLst/>
          </a:prstGeom>
        </p:spPr>
        <p:txBody>
          <a:bodyPr/>
          <a:lstStyle/>
          <a:p>
            <a:pPr marL="0" indent="0" algn="l" defTabSz="740663">
              <a:defRPr sz="1134">
                <a:solidFill>
                  <a:srgbClr val="000000"/>
                </a:solidFill>
              </a:defRPr>
            </a:pPr>
            <a:r>
              <a:t>                                    </a:t>
            </a:r>
            <a:r>
              <a:rPr sz="2430" u="sng">
                <a:latin typeface="Hoefler Text"/>
                <a:ea typeface="Hoefler Text"/>
                <a:cs typeface="Hoefler Text"/>
                <a:sym typeface="Hoefler Text"/>
              </a:rPr>
              <a:t>SportCity – Fantasy Football Team Builder</a:t>
            </a:r>
            <a:endParaRPr b="1" sz="1620">
              <a:solidFill>
                <a:srgbClr val="FFFFFF"/>
              </a:solidFill>
            </a:endParaRPr>
          </a:p>
          <a:p>
            <a:pPr marL="0" indent="0" defTabSz="740663">
              <a:defRPr b="1" sz="1296">
                <a:solidFill>
                  <a:srgbClr val="FFFFFF"/>
                </a:solidFill>
              </a:defRPr>
            </a:pPr>
            <a:endParaRPr sz="1620"/>
          </a:p>
          <a:p>
            <a:pPr marL="0" indent="0" defTabSz="740663">
              <a:defRPr b="1" sz="1377">
                <a:solidFill>
                  <a:srgbClr val="FFFFFF"/>
                </a:solidFill>
              </a:defRPr>
            </a:pPr>
            <a:r>
              <a:t>By Antara Yogesh Palwankar.</a:t>
            </a:r>
          </a:p>
        </p:txBody>
      </p:sp>
      <p:pic>
        <p:nvPicPr>
          <p:cNvPr id="110" name="download.pngGoogle Shape;55;p13" descr="download.pngGoogle Shape;55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34929" y="1192752"/>
            <a:ext cx="3819526" cy="12001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mages.jpegGoogle Shape;62;p14" descr="images.jpegGoogle Shape;62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14199" y="3992274"/>
            <a:ext cx="918101" cy="918101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PROBLEM STATEMENT:…"/>
          <p:cNvSpPr txBox="1"/>
          <p:nvPr/>
        </p:nvSpPr>
        <p:spPr>
          <a:xfrm>
            <a:off x="16251" y="376209"/>
            <a:ext cx="4648678" cy="1192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500" u="sng">
                <a:solidFill>
                  <a:srgbClr val="111111"/>
                </a:solidFill>
                <a:latin typeface="Hoefler Text"/>
                <a:ea typeface="Hoefler Text"/>
                <a:cs typeface="Hoefler Text"/>
                <a:sym typeface="Hoefler Text"/>
              </a:defRPr>
            </a:pPr>
            <a:r>
              <a:t>PROBLEM STATEMENT: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</a:p>
          <a:p>
            <a:pPr defTabSz="457200">
              <a:defRPr sz="1100">
                <a:latin typeface="Georgia"/>
                <a:ea typeface="Georgia"/>
                <a:cs typeface="Georgia"/>
                <a:sym typeface="Georgia"/>
              </a:defRPr>
            </a:pPr>
            <a:r>
              <a:t>• Sports fans enjoy creating their own fantasy teams.</a:t>
            </a:r>
          </a:p>
          <a:p>
            <a:pPr defTabSz="457200">
              <a:defRPr sz="1100">
                <a:latin typeface="Georgia"/>
                <a:ea typeface="Georgia"/>
                <a:cs typeface="Georgia"/>
                <a:sym typeface="Georgia"/>
              </a:defRPr>
            </a:pPr>
            <a:r>
              <a:t>• Existing fantasy platforms are often complex or paid.</a:t>
            </a:r>
          </a:p>
          <a:p>
            <a:pPr defTabSz="457200">
              <a:defRPr sz="1100">
                <a:latin typeface="Georgia"/>
                <a:ea typeface="Georgia"/>
                <a:cs typeface="Georgia"/>
                <a:sym typeface="Georgia"/>
              </a:defRPr>
            </a:pPr>
            <a:r>
              <a:t>• Users need a simple interface to select players and manage team budgets.</a:t>
            </a:r>
          </a:p>
          <a:p>
            <a:pPr defTabSz="457200">
              <a:defRPr sz="1100">
                <a:latin typeface="Georgia"/>
                <a:ea typeface="Georgia"/>
                <a:cs typeface="Georgia"/>
                <a:sym typeface="Georgia"/>
              </a:defRPr>
            </a:pPr>
            <a:r>
              <a:t>• There is a need for an interactive system to simulate team performance.</a:t>
            </a:r>
          </a:p>
        </p:txBody>
      </p:sp>
      <p:sp>
        <p:nvSpPr>
          <p:cNvPr id="114" name="OUR SOLUTION: SportCity Website!…"/>
          <p:cNvSpPr txBox="1"/>
          <p:nvPr/>
        </p:nvSpPr>
        <p:spPr>
          <a:xfrm>
            <a:off x="4661791" y="341670"/>
            <a:ext cx="4365559" cy="1558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u="sng">
                <a:solidFill>
                  <a:srgbClr val="111111"/>
                </a:solidFill>
                <a:latin typeface="Hoefler Text"/>
                <a:ea typeface="Hoefler Text"/>
                <a:cs typeface="Hoefler Text"/>
                <a:sym typeface="Hoefler Text"/>
              </a:defRPr>
            </a:pPr>
            <a:r>
              <a:t>OUR SOLUTION: SportCity Website!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u="sng">
                <a:solidFill>
                  <a:srgbClr val="111111"/>
                </a:solidFill>
                <a:latin typeface="Hoefler Text"/>
                <a:ea typeface="Hoefler Text"/>
                <a:cs typeface="Hoefler Text"/>
                <a:sym typeface="Hoefler Text"/>
              </a:defRPr>
            </a:p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A simple web application for building a fantasy football team.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Players can be selected from a transfer market.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Budget management prevents overspending while selecting players.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JavaScript simulates team performance based on player ratings.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Leaderboard stores and displays team scores.</a:t>
            </a:r>
          </a:p>
        </p:txBody>
      </p:sp>
      <p:sp>
        <p:nvSpPr>
          <p:cNvPr id="115" name="PROJECT OVERVIEW:"/>
          <p:cNvSpPr txBox="1"/>
          <p:nvPr/>
        </p:nvSpPr>
        <p:spPr>
          <a:xfrm>
            <a:off x="85328" y="2395347"/>
            <a:ext cx="321513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u="sng">
                <a:latin typeface="Hoefler Text"/>
                <a:ea typeface="Hoefler Text"/>
                <a:cs typeface="Hoefler Text"/>
                <a:sym typeface="Hoefler Text"/>
              </a:defRPr>
            </a:lvl1pPr>
          </a:lstStyle>
          <a:p>
            <a:pPr/>
            <a:r>
              <a:t>PROJECT OVERVIEW:</a:t>
            </a:r>
          </a:p>
        </p:txBody>
      </p:sp>
      <p:sp>
        <p:nvSpPr>
          <p:cNvPr id="116" name="• SportCity is a web-based fantasy football team builder.…"/>
          <p:cNvSpPr txBox="1"/>
          <p:nvPr/>
        </p:nvSpPr>
        <p:spPr>
          <a:xfrm>
            <a:off x="111232" y="2940673"/>
            <a:ext cx="8146078" cy="1137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SportCity is a web-based fantasy football team builder.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Users select players from a transfer market while managing a fixed budget.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The system simulates match scores based on player ratings.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Built using HTML for structure, CSS for design, and JavaScript for functionality.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s.jpegGoogle Shape;62;p14" descr="images.jpegGoogle Shape;62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14199" y="3992274"/>
            <a:ext cx="918101" cy="918101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WORKFLOW OF THE WEBSITE:"/>
          <p:cNvSpPr txBox="1"/>
          <p:nvPr/>
        </p:nvSpPr>
        <p:spPr>
          <a:xfrm>
            <a:off x="119866" y="91268"/>
            <a:ext cx="363701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u="sng">
                <a:latin typeface="Hoefler Text"/>
                <a:ea typeface="Hoefler Text"/>
                <a:cs typeface="Hoefler Text"/>
                <a:sym typeface="Hoefler Text"/>
              </a:defRPr>
            </a:lvl1pPr>
          </a:lstStyle>
          <a:p>
            <a:pPr/>
            <a:r>
              <a:t>WORKFLOW OF THE WEBSITE:</a:t>
            </a:r>
          </a:p>
        </p:txBody>
      </p:sp>
      <p:sp>
        <p:nvSpPr>
          <p:cNvPr id="120" name="User Opens SportCity Website"/>
          <p:cNvSpPr/>
          <p:nvPr/>
        </p:nvSpPr>
        <p:spPr>
          <a:xfrm>
            <a:off x="77351" y="444320"/>
            <a:ext cx="1070259" cy="892701"/>
          </a:xfrm>
          <a:prstGeom prst="roundRect">
            <a:avLst>
              <a:gd name="adj" fmla="val 19492"/>
            </a:avLst>
          </a:prstGeom>
          <a:gradFill>
            <a:gsLst>
              <a:gs pos="0">
                <a:schemeClr val="accent4">
                  <a:hueOff val="-473915"/>
                  <a:lumOff val="24720"/>
                </a:schemeClr>
              </a:gs>
              <a:gs pos="35000">
                <a:srgbClr val="FFE4D1"/>
              </a:gs>
              <a:gs pos="100000">
                <a:schemeClr val="accent4">
                  <a:hueOff val="-591707"/>
                  <a:lumOff val="34068"/>
                </a:schemeClr>
              </a:gs>
            </a:gsLst>
            <a:lin ang="16200000"/>
          </a:gradFill>
          <a:ln>
            <a:solidFill>
              <a:srgbClr val="FEA83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</a:p>
          <a:p>
            <a:pPr/>
            <a:r>
              <a:rPr sz="1000"/>
              <a:t>User Opens SportCity Website</a:t>
            </a:r>
          </a:p>
        </p:txBody>
      </p:sp>
      <p:sp>
        <p:nvSpPr>
          <p:cNvPr id="121" name="HTML Loads Page Structure"/>
          <p:cNvSpPr/>
          <p:nvPr/>
        </p:nvSpPr>
        <p:spPr>
          <a:xfrm>
            <a:off x="1403245" y="444320"/>
            <a:ext cx="974335" cy="892701"/>
          </a:xfrm>
          <a:prstGeom prst="roundRect">
            <a:avLst>
              <a:gd name="adj" fmla="val 19492"/>
            </a:avLst>
          </a:prstGeom>
          <a:gradFill>
            <a:gsLst>
              <a:gs pos="0">
                <a:schemeClr val="accent5"/>
              </a:gs>
              <a:gs pos="100000">
                <a:srgbClr val="94EBFE"/>
              </a:gs>
            </a:gsLst>
            <a:lin ang="16200000"/>
          </a:gradFill>
          <a:ln>
            <a:solidFill>
              <a:srgbClr val="0094A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           HTML Loads Page Structure</a:t>
            </a:r>
          </a:p>
        </p:txBody>
      </p:sp>
      <p:sp>
        <p:nvSpPr>
          <p:cNvPr id="122" name="CSS Applies Design and Layout"/>
          <p:cNvSpPr/>
          <p:nvPr/>
        </p:nvSpPr>
        <p:spPr>
          <a:xfrm>
            <a:off x="2633215" y="444320"/>
            <a:ext cx="974334" cy="892701"/>
          </a:xfrm>
          <a:prstGeom prst="roundRect">
            <a:avLst>
              <a:gd name="adj" fmla="val 19492"/>
            </a:avLst>
          </a:prstGeom>
          <a:gradFill>
            <a:gsLst>
              <a:gs pos="0">
                <a:schemeClr val="accent4">
                  <a:hueOff val="-473915"/>
                  <a:lumOff val="24720"/>
                </a:schemeClr>
              </a:gs>
              <a:gs pos="35000">
                <a:srgbClr val="FFE4D1"/>
              </a:gs>
              <a:gs pos="100000">
                <a:schemeClr val="accent4">
                  <a:hueOff val="-591707"/>
                  <a:lumOff val="34068"/>
                </a:schemeClr>
              </a:gs>
            </a:gsLst>
            <a:lin ang="16200000"/>
          </a:gradFill>
          <a:ln>
            <a:solidFill>
              <a:srgbClr val="FEA83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   </a:t>
            </a:r>
            <a:r>
              <a:rPr sz="1100"/>
              <a:t> CSS Applies Design and Layout</a:t>
            </a:r>
          </a:p>
        </p:txBody>
      </p:sp>
      <p:sp>
        <p:nvSpPr>
          <p:cNvPr id="123" name="Match Simulation Based on Player Ratings"/>
          <p:cNvSpPr/>
          <p:nvPr/>
        </p:nvSpPr>
        <p:spPr>
          <a:xfrm>
            <a:off x="7863262" y="444320"/>
            <a:ext cx="1211823" cy="892701"/>
          </a:xfrm>
          <a:prstGeom prst="roundRect">
            <a:avLst>
              <a:gd name="adj" fmla="val 19492"/>
            </a:avLst>
          </a:prstGeom>
          <a:gradFill>
            <a:gsLst>
              <a:gs pos="0">
                <a:schemeClr val="accent4">
                  <a:hueOff val="-473915"/>
                  <a:lumOff val="24720"/>
                </a:schemeClr>
              </a:gs>
              <a:gs pos="35000">
                <a:srgbClr val="FFE4D1"/>
              </a:gs>
              <a:gs pos="100000">
                <a:schemeClr val="accent4">
                  <a:hueOff val="-591707"/>
                  <a:lumOff val="34068"/>
                </a:schemeClr>
              </a:gs>
            </a:gsLst>
            <a:lin ang="16200000"/>
          </a:gradFill>
          <a:ln>
            <a:solidFill>
              <a:srgbClr val="FEA83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defRPr sz="1400"/>
            </a:pPr>
            <a:r>
              <a:rPr sz="1100"/>
              <a:t>Match Simulation Based on Player Ratings</a:t>
            </a:r>
          </a:p>
        </p:txBody>
      </p:sp>
      <p:sp>
        <p:nvSpPr>
          <p:cNvPr id="124" name="JavaScript Loads Player Data"/>
          <p:cNvSpPr/>
          <p:nvPr/>
        </p:nvSpPr>
        <p:spPr>
          <a:xfrm>
            <a:off x="3863184" y="444320"/>
            <a:ext cx="1033495" cy="892701"/>
          </a:xfrm>
          <a:prstGeom prst="roundRect">
            <a:avLst>
              <a:gd name="adj" fmla="val 19492"/>
            </a:avLst>
          </a:prstGeom>
          <a:gradFill>
            <a:gsLst>
              <a:gs pos="0">
                <a:schemeClr val="accent5"/>
              </a:gs>
              <a:gs pos="100000">
                <a:srgbClr val="94EBFE"/>
              </a:gs>
            </a:gsLst>
            <a:lin ang="16200000"/>
          </a:gradFill>
          <a:ln>
            <a:solidFill>
              <a:srgbClr val="0094A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   JavaScript Loads Player Data</a:t>
            </a:r>
          </a:p>
        </p:txBody>
      </p:sp>
      <p:sp>
        <p:nvSpPr>
          <p:cNvPr id="125" name="User Selects Players from Market"/>
          <p:cNvSpPr/>
          <p:nvPr/>
        </p:nvSpPr>
        <p:spPr>
          <a:xfrm>
            <a:off x="5152314" y="444320"/>
            <a:ext cx="1070259" cy="892701"/>
          </a:xfrm>
          <a:prstGeom prst="roundRect">
            <a:avLst>
              <a:gd name="adj" fmla="val 19492"/>
            </a:avLst>
          </a:prstGeom>
          <a:gradFill>
            <a:gsLst>
              <a:gs pos="0">
                <a:schemeClr val="accent4">
                  <a:hueOff val="-473915"/>
                  <a:lumOff val="24720"/>
                </a:schemeClr>
              </a:gs>
              <a:gs pos="35000">
                <a:srgbClr val="FFE4D1"/>
              </a:gs>
              <a:gs pos="100000">
                <a:schemeClr val="accent4">
                  <a:hueOff val="-591707"/>
                  <a:lumOff val="34068"/>
                </a:schemeClr>
              </a:gs>
            </a:gsLst>
            <a:lin ang="16200000"/>
          </a:gradFill>
          <a:ln>
            <a:solidFill>
              <a:srgbClr val="FEA83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    </a:t>
            </a:r>
            <a:r>
              <a:rPr sz="1100"/>
              <a:t>User Selects Players from</a:t>
            </a:r>
            <a:r>
              <a:t> </a:t>
            </a:r>
            <a:r>
              <a:rPr sz="1100"/>
              <a:t>Market</a:t>
            </a:r>
          </a:p>
        </p:txBody>
      </p:sp>
      <p:sp>
        <p:nvSpPr>
          <p:cNvPr id="126" name="Budget Validation and Team Creation"/>
          <p:cNvSpPr/>
          <p:nvPr/>
        </p:nvSpPr>
        <p:spPr>
          <a:xfrm>
            <a:off x="6478208" y="444320"/>
            <a:ext cx="1033495" cy="892701"/>
          </a:xfrm>
          <a:prstGeom prst="roundRect">
            <a:avLst>
              <a:gd name="adj" fmla="val 19492"/>
            </a:avLst>
          </a:prstGeom>
          <a:gradFill>
            <a:gsLst>
              <a:gs pos="0">
                <a:schemeClr val="accent5"/>
              </a:gs>
              <a:gs pos="100000">
                <a:srgbClr val="94EBFE"/>
              </a:gs>
            </a:gsLst>
            <a:lin ang="16200000"/>
          </a:gradFill>
          <a:ln>
            <a:solidFill>
              <a:srgbClr val="0094A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sz="1100">
                <a:latin typeface="Georgia"/>
                <a:ea typeface="Georgia"/>
                <a:cs typeface="Georgia"/>
                <a:sym typeface="Georgia"/>
              </a:rPr>
              <a:t>Budget Validation and Team</a:t>
            </a:r>
            <a:r>
              <a:t> Creation</a:t>
            </a:r>
          </a:p>
        </p:txBody>
      </p:sp>
      <p:sp>
        <p:nvSpPr>
          <p:cNvPr id="127" name="Arrow"/>
          <p:cNvSpPr/>
          <p:nvPr/>
        </p:nvSpPr>
        <p:spPr>
          <a:xfrm>
            <a:off x="1139402" y="858779"/>
            <a:ext cx="331397" cy="190501"/>
          </a:xfrm>
          <a:prstGeom prst="rightArrow">
            <a:avLst>
              <a:gd name="adj1" fmla="val 32000"/>
              <a:gd name="adj2" fmla="val 11053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8" name="Arrow"/>
          <p:cNvSpPr/>
          <p:nvPr/>
        </p:nvSpPr>
        <p:spPr>
          <a:xfrm>
            <a:off x="7521784" y="858779"/>
            <a:ext cx="331397" cy="190501"/>
          </a:xfrm>
          <a:prstGeom prst="rightArrow">
            <a:avLst>
              <a:gd name="adj1" fmla="val 32000"/>
              <a:gd name="adj2" fmla="val 11053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9" name="Arrow"/>
          <p:cNvSpPr/>
          <p:nvPr/>
        </p:nvSpPr>
        <p:spPr>
          <a:xfrm>
            <a:off x="6214272" y="795420"/>
            <a:ext cx="331397" cy="190501"/>
          </a:xfrm>
          <a:prstGeom prst="rightArrow">
            <a:avLst>
              <a:gd name="adj1" fmla="val 32000"/>
              <a:gd name="adj2" fmla="val 11053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0" name="Arrow"/>
          <p:cNvSpPr/>
          <p:nvPr/>
        </p:nvSpPr>
        <p:spPr>
          <a:xfrm>
            <a:off x="4906760" y="795420"/>
            <a:ext cx="331397" cy="190501"/>
          </a:xfrm>
          <a:prstGeom prst="rightArrow">
            <a:avLst>
              <a:gd name="adj1" fmla="val 32000"/>
              <a:gd name="adj2" fmla="val 11053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1" name="Arrow"/>
          <p:cNvSpPr/>
          <p:nvPr/>
        </p:nvSpPr>
        <p:spPr>
          <a:xfrm>
            <a:off x="3599248" y="795420"/>
            <a:ext cx="331397" cy="190501"/>
          </a:xfrm>
          <a:prstGeom prst="rightArrow">
            <a:avLst>
              <a:gd name="adj1" fmla="val 32000"/>
              <a:gd name="adj2" fmla="val 11053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2" name="Arrow"/>
          <p:cNvSpPr/>
          <p:nvPr/>
        </p:nvSpPr>
        <p:spPr>
          <a:xfrm>
            <a:off x="2339699" y="858779"/>
            <a:ext cx="331397" cy="190501"/>
          </a:xfrm>
          <a:prstGeom prst="rightArrow">
            <a:avLst>
              <a:gd name="adj1" fmla="val 32000"/>
              <a:gd name="adj2" fmla="val 110531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3" name="SYSTEM PROCESS OVERVIEW:"/>
          <p:cNvSpPr txBox="1"/>
          <p:nvPr/>
        </p:nvSpPr>
        <p:spPr>
          <a:xfrm>
            <a:off x="102597" y="1695869"/>
            <a:ext cx="48056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u="sng">
                <a:latin typeface="Hoefler Text"/>
                <a:ea typeface="Hoefler Text"/>
                <a:cs typeface="Hoefler Text"/>
                <a:sym typeface="Hoefler Text"/>
              </a:defRPr>
            </a:lvl1pPr>
          </a:lstStyle>
          <a:p>
            <a:pPr/>
            <a:r>
              <a:t>SYSTEM PROCESS OVERVIEW:</a:t>
            </a:r>
          </a:p>
        </p:txBody>
      </p:sp>
      <p:sp>
        <p:nvSpPr>
          <p:cNvPr id="134" name="• The SportCity website starts when the user opens the homepage created using HTML.…"/>
          <p:cNvSpPr txBox="1"/>
          <p:nvPr/>
        </p:nvSpPr>
        <p:spPr>
          <a:xfrm>
            <a:off x="111232" y="2067958"/>
            <a:ext cx="8690596" cy="1617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The SportCity website starts when the user opens the homepage created using HTML.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CSS enhances the visual layout by applying styling, spacing, and responsive design.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JavaScript dynamically loads player data and displays the transfer market.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Users select players to build their fantasy team while the system tracks the available budget.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JavaScript validates selections to prevent duplicate players or exceeding the budget.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The system simulates match performance using player ratings and a random factor.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Final scores are stored in LocalStorage and displayed in the leaderboard.</a:t>
            </a:r>
          </a:p>
        </p:txBody>
      </p:sp>
      <p:sp>
        <p:nvSpPr>
          <p:cNvPr id="135" name="Leaderboard Displays Final Scores"/>
          <p:cNvSpPr/>
          <p:nvPr/>
        </p:nvSpPr>
        <p:spPr>
          <a:xfrm>
            <a:off x="7952426" y="1745620"/>
            <a:ext cx="1033495" cy="892701"/>
          </a:xfrm>
          <a:prstGeom prst="roundRect">
            <a:avLst>
              <a:gd name="adj" fmla="val 19492"/>
            </a:avLst>
          </a:prstGeom>
          <a:gradFill>
            <a:gsLst>
              <a:gs pos="0">
                <a:schemeClr val="accent5"/>
              </a:gs>
              <a:gs pos="100000">
                <a:srgbClr val="94EBFE"/>
              </a:gs>
            </a:gsLst>
            <a:lin ang="16200000"/>
          </a:gradFill>
          <a:ln>
            <a:solidFill>
              <a:srgbClr val="0094A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defRPr sz="1400"/>
            </a:pPr>
            <a:r>
              <a:rPr sz="1100"/>
              <a:t>Leaderboard Displays Final Scores</a:t>
            </a:r>
          </a:p>
        </p:txBody>
      </p:sp>
      <p:sp>
        <p:nvSpPr>
          <p:cNvPr id="136" name="Line"/>
          <p:cNvSpPr/>
          <p:nvPr/>
        </p:nvSpPr>
        <p:spPr>
          <a:xfrm>
            <a:off x="8469173" y="1295166"/>
            <a:ext cx="1" cy="466458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7" name="TECHNOLOGIES WE USED: HTML , CSS , JAVASCRIPT"/>
          <p:cNvSpPr/>
          <p:nvPr/>
        </p:nvSpPr>
        <p:spPr>
          <a:xfrm>
            <a:off x="1861163" y="4166746"/>
            <a:ext cx="4767501" cy="310080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chemeClr val="accent1">
                    <a:satOff val="-31580"/>
                    <a:lumOff val="-12156"/>
                  </a:schemeClr>
                </a:solidFill>
                <a:latin typeface="Hoefler Text"/>
                <a:ea typeface="Hoefler Text"/>
                <a:cs typeface="Hoefler Text"/>
                <a:sym typeface="Hoefler Text"/>
              </a:defRPr>
            </a:lvl1pPr>
          </a:lstStyle>
          <a:p>
            <a:pPr/>
            <a:r>
              <a:t>TECHNOLOGIES WE USED: HTML , CSS , JAVASCRIPT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67;p15"/>
          <p:cNvSpPr txBox="1"/>
          <p:nvPr>
            <p:ph type="subTitle" sz="quarter" idx="1"/>
          </p:nvPr>
        </p:nvSpPr>
        <p:spPr>
          <a:xfrm>
            <a:off x="3705082" y="4552402"/>
            <a:ext cx="8520601" cy="792601"/>
          </a:xfrm>
          <a:prstGeom prst="rect">
            <a:avLst/>
          </a:prstGeom>
        </p:spPr>
        <p:txBody>
          <a:bodyPr/>
          <a:lstStyle>
            <a:lvl1pPr marL="0" indent="0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pic>
        <p:nvPicPr>
          <p:cNvPr id="140" name="download.pngGoogle Shape;68;p15" descr="download.pngGoogle Shape;68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62237" y="-7452"/>
            <a:ext cx="3819526" cy="1200151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RESULTS AND CONCLUSION:…"/>
          <p:cNvSpPr txBox="1"/>
          <p:nvPr/>
        </p:nvSpPr>
        <p:spPr>
          <a:xfrm>
            <a:off x="186641" y="1297300"/>
            <a:ext cx="8520601" cy="2400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/>
          </a:p>
          <a:p>
            <a:pPr>
              <a:defRPr>
                <a:solidFill>
                  <a:srgbClr val="FFFFFF"/>
                </a:solidFill>
                <a:latin typeface="Hoefler Text"/>
                <a:ea typeface="Hoefler Text"/>
                <a:cs typeface="Hoefler Text"/>
                <a:sym typeface="Hoefler Text"/>
              </a:defRPr>
            </a:pPr>
            <a:r>
              <a:t>RESULTS AND CONCLUSION:</a:t>
            </a:r>
          </a:p>
          <a:p>
            <a:pPr/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  <a:r>
              <a:t>• The SportCity website successfully demonstrates a fantasy team building system.</a:t>
            </a:r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  <a:r>
              <a:t>• HTML was used to structure pages such as homepage, team page, and market page.</a:t>
            </a:r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  <a:r>
              <a:t>• CSS improved the visual design, layout, and responsiveness of the website.</a:t>
            </a:r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  <a:r>
              <a:t>• JavaScript implemented dynamic features such as player selection, budget control, and match simulation.</a:t>
            </a:r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  <a:r>
              <a:t>• LocalStorage was used to store match scores and generate a leaderboard.</a:t>
            </a:r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</a:p>
          <a:p>
            <a:pPr>
              <a:defRPr sz="1200">
                <a:latin typeface="Georgia"/>
                <a:ea typeface="Georgia"/>
                <a:cs typeface="Georgia"/>
                <a:sym typeface="Georgia"/>
              </a:defRPr>
            </a:pPr>
            <a:r>
              <a:t>This project demonstrates how frontend web technologies can be combined to create an interactive sports management application.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